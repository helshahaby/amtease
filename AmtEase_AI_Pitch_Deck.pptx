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914400"/>
            <a:ext cx="4572000" cy="4572000"/>
          </a:xfrm>
          <a:prstGeom prst="ellipse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320040"/>
            <a:ext cx="3474720" cy="347472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28600"/>
            <a:ext cx="2377440" cy="2377440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95560" y="731520"/>
            <a:ext cx="1371600" cy="1371600"/>
          </a:xfrm>
          <a:prstGeom prst="ellipse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2880360"/>
            <a:ext cx="3474720" cy="74980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5552" y="3054096"/>
            <a:ext cx="384048" cy="384048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5552" y="3058668"/>
            <a:ext cx="384048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026664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Clear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282696"/>
            <a:ext cx="2423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7CD"/>
                </a:solidFill>
                <a:latin typeface="Aptos"/>
              </a:rPr>
              <a:t>A journey, not a maze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822191"/>
            <a:ext cx="3063240" cy="749808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7072" y="4005072"/>
            <a:ext cx="384048" cy="384048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4009644"/>
            <a:ext cx="384048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Aptos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977639"/>
            <a:ext cx="21031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Aptos"/>
              </a:rPr>
              <a:t>Plain-language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224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9B7CD"/>
                </a:solidFill>
                <a:latin typeface="Aptos"/>
              </a:rPr>
              <a:t>Voice + text + human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713232"/>
            <a:ext cx="315468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736092"/>
            <a:ext cx="300837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PUBLIC SECTOR  •  CONCEPT &amp;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417320"/>
            <a:ext cx="67665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5F7FB"/>
                </a:solidFill>
                <a:latin typeface="Aptos"/>
              </a:rPr>
              <a:t>AmtEase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404872"/>
            <a:ext cx="65836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42D6D0"/>
                </a:solidFill>
                <a:latin typeface="Aptos"/>
              </a:rPr>
              <a:t>Public services, made
clearer for everyone.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86200"/>
            <a:ext cx="60807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9B7CD"/>
                </a:solidFill>
                <a:latin typeface="Aptos"/>
              </a:rPr>
              <a:t>A voice-first, accessible digital assistant that turns everyday questions into understandable guidance and actionable next steps.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047488"/>
            <a:ext cx="640080" cy="4572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321808"/>
            <a:ext cx="4297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B"/>
                </a:solidFill>
                <a:latin typeface="Aptos"/>
              </a:rPr>
              <a:t>Hossam Elshahaby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5394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7CD"/>
                </a:solidFill>
                <a:latin typeface="Aptos"/>
              </a:rPr>
              <a:t>Digital Assistants: Evolution to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7CD"/>
                </a:solidFill>
                <a:latin typeface="Aptos"/>
              </a:rPr>
              <a:t>AMTEASE AI  •  DIGITAL ASSISTANTS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92240"/>
            <a:ext cx="822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9B7CD"/>
                </a:solidFill>
                <a:latin typeface="Aptos"/>
              </a:rPr>
              <a:t>01  /  06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205740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06908"/>
            <a:ext cx="1911095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2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77240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Aptos"/>
              </a:rPr>
              <a:t>Public services are digital.
The journey still feels complicated.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7315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9B7CD"/>
                </a:solidFill>
                <a:latin typeface="Aptos"/>
              </a:rPr>
              <a:t>People often know what they need in real life — but not the official name, the right form, or the correct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63240"/>
            <a:ext cx="6675120" cy="2377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6D0"/>
                </a:solidFill>
                <a:latin typeface="Aptos"/>
              </a:rPr>
              <a:t>TODAY'S CITIZEN JOURNEY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3703320"/>
            <a:ext cx="256032" cy="256032"/>
          </a:xfrm>
          <a:prstGeom prst="ellipse">
            <a:avLst/>
          </a:prstGeom>
          <a:solidFill>
            <a:srgbClr val="FF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707891"/>
            <a:ext cx="25603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3707891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Search the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3707891"/>
            <a:ext cx="30175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Too many pages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4096511"/>
            <a:ext cx="256032" cy="256032"/>
          </a:xfrm>
          <a:prstGeom prst="ellipse">
            <a:avLst/>
          </a:prstGeom>
          <a:solidFill>
            <a:srgbClr val="FF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101083"/>
            <a:ext cx="25603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101083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Decode the wording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101083"/>
            <a:ext cx="30175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Jargon + uncertainty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4489704"/>
            <a:ext cx="256032" cy="256032"/>
          </a:xfrm>
          <a:prstGeom prst="ellipse">
            <a:avLst/>
          </a:prstGeom>
          <a:solidFill>
            <a:srgbClr val="FF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494276"/>
            <a:ext cx="25603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494276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Find the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494276"/>
            <a:ext cx="30175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Wrong or outdated links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" y="4882896"/>
            <a:ext cx="256032" cy="256032"/>
          </a:xfrm>
          <a:prstGeom prst="ellipse">
            <a:avLst/>
          </a:prstGeom>
          <a:solidFill>
            <a:srgbClr val="FF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887468"/>
            <a:ext cx="25603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887468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Start again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4887468"/>
            <a:ext cx="30175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Missing prerequisites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1280160"/>
            <a:ext cx="3611880" cy="1078992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444751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2D6D0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1426463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Aptos"/>
              </a:rPr>
              <a:t>Administrative jargon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1764792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7CD"/>
                </a:solidFill>
                <a:latin typeface="Aptos"/>
              </a:rPr>
              <a:t>Complex wording blocks understanding.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651760"/>
            <a:ext cx="3611880" cy="1078992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8163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F36B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279806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Aptos"/>
              </a:rPr>
              <a:t>Digital confidence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3136391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7CD"/>
                </a:solidFill>
                <a:latin typeface="Aptos"/>
              </a:rPr>
              <a:t>Voice and accessible guidance are not optional.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4023360"/>
            <a:ext cx="3611880" cy="1078992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1879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E69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416966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Aptos"/>
              </a:rPr>
              <a:t>Unclear 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507992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7CD"/>
                </a:solidFill>
                <a:latin typeface="Aptos"/>
              </a:rPr>
              <a:t>Citizens need a route, not another search result.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577840"/>
            <a:ext cx="34290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2D6D0"/>
                </a:solidFill>
                <a:latin typeface="Aptos"/>
              </a:rPr>
              <a:t>The opportunity: make the process understandable before asking people to complete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7CD"/>
                </a:solidFill>
                <a:latin typeface="Aptos"/>
              </a:rPr>
              <a:t>AMTEASE AI  •  DIGITAL ASSISTANTS 2030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92240"/>
            <a:ext cx="822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9B7CD"/>
                </a:solidFill>
                <a:latin typeface="Aptos"/>
              </a:rPr>
              <a:t>02  /  06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205740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06908"/>
            <a:ext cx="1911095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3  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412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Aptos"/>
              </a:rPr>
              <a:t>One conversation. A clearer path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9784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9B7CD"/>
                </a:solidFill>
                <a:latin typeface="Aptos"/>
              </a:rPr>
              <a:t>AmtEase AI combines conversational understanding, verified service discovery, step-by-step guidance and a safe route to human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3456432" cy="1234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679192"/>
            <a:ext cx="438912" cy="438912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83764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2670048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Voice +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3035808"/>
            <a:ext cx="2331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Speak naturally in German or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468880"/>
            <a:ext cx="3456432" cy="1234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54296" y="2679192"/>
            <a:ext cx="438912" cy="438912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683764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670048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Plain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3035808"/>
            <a:ext cx="2331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Translate administrative wording into clear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2468880"/>
            <a:ext cx="3456432" cy="1234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21624" y="2679192"/>
            <a:ext cx="438912" cy="438912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683764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670048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Service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035808"/>
            <a:ext cx="2331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Find relevant official forms and topic pages.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50208"/>
            <a:ext cx="3456432" cy="1234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4160520"/>
            <a:ext cx="438912" cy="438912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165092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415137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Guided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517136"/>
            <a:ext cx="2331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Clarify prerequisites and build a checklist.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950208"/>
            <a:ext cx="3456432" cy="1234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54296" y="4160520"/>
            <a:ext cx="438912" cy="438912"/>
          </a:xfrm>
          <a:prstGeom prst="ellipse">
            <a:avLst/>
          </a:prstGeom>
          <a:solidFill>
            <a:srgbClr val="B7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4165092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415137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Uncertainty-aware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4517136"/>
            <a:ext cx="2331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Ask follow-up questions; avoid guessing.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0456" y="3950208"/>
            <a:ext cx="3456432" cy="12344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21624" y="4160520"/>
            <a:ext cx="438912" cy="438912"/>
          </a:xfrm>
          <a:prstGeom prst="ellipse">
            <a:avLst/>
          </a:prstGeom>
          <a:solidFill>
            <a:srgbClr val="FF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4165092"/>
            <a:ext cx="43891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15137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Human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517136"/>
            <a:ext cx="2331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Prepare a summary for the right support channel.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641848"/>
            <a:ext cx="150876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664708"/>
            <a:ext cx="136245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DEMO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5669280"/>
            <a:ext cx="7863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Residence registration  •  Passport renewal  •  Explain an official letter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7CD"/>
                </a:solidFill>
                <a:latin typeface="Aptos"/>
              </a:rPr>
              <a:t>AMTEASE AI  •  DIGITAL ASSISTANTS 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92240"/>
            <a:ext cx="822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9B7CD"/>
                </a:solidFill>
                <a:latin typeface="Aptos"/>
              </a:rPr>
              <a:t>03  /  06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205740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06908"/>
            <a:ext cx="1911095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4  /  IMPACT IN THE REAL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78638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Aptos"/>
              </a:rPr>
              <a:t>Less confusion for citizens.
More focused public-service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3"/>
            <a:ext cx="7315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9B7CD"/>
                </a:solidFill>
                <a:latin typeface="Aptos"/>
              </a:rPr>
              <a:t>Designed to reduce friction at the point where people get stuck — understanding what applies to them and what to do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99232"/>
            <a:ext cx="3429000" cy="21488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3227832"/>
            <a:ext cx="1417320" cy="310896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50691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42D6D0"/>
                </a:solidFill>
                <a:latin typeface="Aptos"/>
              </a:rPr>
              <a:t>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30752"/>
            <a:ext cx="2880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Aptos"/>
              </a:rPr>
              <a:t>Understand the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61688"/>
            <a:ext cx="2880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Plain-language answers, step-by-step checklists and links to official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999232"/>
            <a:ext cx="3429000" cy="21488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7" y="3227832"/>
            <a:ext cx="1417320" cy="310896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3250691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B8F36B"/>
                </a:solidFill>
                <a:latin typeface="Aptos"/>
              </a:rPr>
              <a:t>FRONTLINE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730752"/>
            <a:ext cx="2880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Aptos"/>
              </a:rPr>
              <a:t>Better-prepared enquiries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361688"/>
            <a:ext cx="2880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A structured summary helps a person explain their situation without starting 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999232"/>
            <a:ext cx="3429000" cy="214884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5048" y="3227832"/>
            <a:ext cx="1417320" cy="310896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250691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C8CFF"/>
                </a:solidFill>
                <a:latin typeface="Aptos"/>
              </a:rPr>
              <a:t>PUBLIC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730752"/>
            <a:ext cx="2880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Aptos"/>
              </a:rPr>
              <a:t>More consistent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361688"/>
            <a:ext cx="2880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Reusable workflows and clear uncertainty handling support scalable service design.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9824"/>
            <a:ext cx="10927080" cy="621792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32704"/>
            <a:ext cx="10469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2D6D0"/>
                </a:solidFill>
                <a:latin typeface="Aptos"/>
              </a:rPr>
              <a:t>ASK  →  CLARIFY  →  VERIFY  →  GUIDE  →  HAND OFF WHEN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208776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9B7CD"/>
                </a:solidFill>
                <a:latin typeface="Aptos"/>
              </a:rPr>
              <a:t>Prototype principle: assist, don't impersonate an authority or make legal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7CD"/>
                </a:solidFill>
                <a:latin typeface="Aptos"/>
              </a:rPr>
              <a:t>AMTEASE AI  •  DIGITAL ASSISTANTS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92240"/>
            <a:ext cx="822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9B7CD"/>
                </a:solidFill>
                <a:latin typeface="Aptos"/>
              </a:rPr>
              <a:t>04  /  06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205740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06908"/>
            <a:ext cx="1911095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5  /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5486400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Aptos"/>
              </a:rPr>
              <a:t>From everyday language
to a useful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76272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2D6D0"/>
                </a:solidFill>
                <a:latin typeface="Aptos"/>
              </a:rPr>
              <a:t>Demo journey: moving to a new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33472"/>
            <a:ext cx="50292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F5F7FB"/>
                </a:solidFill>
                <a:latin typeface="Aptos"/>
              </a:rPr>
              <a:t>“I moved last week. Where do I tell the authorities, and what do I need?”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868680"/>
            <a:ext cx="4709160" cy="525780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0840" y="1115568"/>
            <a:ext cx="4160520" cy="502920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85432" y="1197864"/>
            <a:ext cx="310896" cy="310896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202436"/>
            <a:ext cx="3108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1207008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AmtEase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234440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9B7CD"/>
                </a:solidFill>
                <a:latin typeface="Aptos"/>
              </a:rPr>
              <a:t>Deutsch  •  English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856231"/>
            <a:ext cx="3401568" cy="786384"/>
          </a:xfrm>
          <a:prstGeom prst="roundRect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202996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I moved last week. What do I need to 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8272" y="2852928"/>
            <a:ext cx="3840480" cy="1417320"/>
          </a:xfrm>
          <a:prstGeom prst="round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035808"/>
            <a:ext cx="340156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B"/>
                </a:solidFill>
                <a:latin typeface="Aptos"/>
              </a:rPr>
              <a:t>I can help you find the right residence-registration information. First, are you registering a new main residence or changing an existing one?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3904487"/>
            <a:ext cx="123444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927348"/>
            <a:ext cx="108813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42D6D0"/>
                </a:solidFill>
                <a:latin typeface="Aptos"/>
              </a:rPr>
              <a:t>CLARIFY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4498848"/>
            <a:ext cx="3730752" cy="338328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31152" y="4594860"/>
            <a:ext cx="137160" cy="137160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4562856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B"/>
                </a:solidFill>
                <a:latin typeface="Aptos"/>
              </a:rPr>
              <a:t>Find official guidance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4937760"/>
            <a:ext cx="3730752" cy="338328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31152" y="5033772"/>
            <a:ext cx="137160" cy="137160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500176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B"/>
                </a:solidFill>
                <a:latin typeface="Aptos"/>
              </a:rPr>
              <a:t>Build my checklist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5376672"/>
            <a:ext cx="3730752" cy="338328"/>
          </a:xfrm>
          <a:prstGeom prst="roundRect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31152" y="5472684"/>
            <a:ext cx="137160" cy="137160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4" y="5440680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B"/>
                </a:solidFill>
                <a:latin typeface="Aptos"/>
              </a:rPr>
              <a:t>Talk to a person</a:t>
            </a:r>
          </a:p>
        </p:txBody>
      </p:sp>
      <p:sp>
        <p:nvSpPr>
          <p:cNvPr id="28" name="Oval 27"/>
          <p:cNvSpPr/>
          <p:nvPr/>
        </p:nvSpPr>
        <p:spPr>
          <a:xfrm>
            <a:off x="749808" y="3429000"/>
            <a:ext cx="347472" cy="347472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433572"/>
            <a:ext cx="34747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438144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UNDERSTAND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438144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Intent + confidence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749808" y="4050791"/>
            <a:ext cx="347472" cy="347472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55363"/>
            <a:ext cx="34747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059935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CLARIFY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059935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Ask only what's missing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672584"/>
            <a:ext cx="347472" cy="347472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677156"/>
            <a:ext cx="34747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681728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681728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Official links + checklist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294376"/>
            <a:ext cx="347472" cy="347472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298948"/>
            <a:ext cx="34747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B1220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30352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HAND 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5303520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Human support if needed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080760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9B7CD"/>
                </a:solidFill>
                <a:latin typeface="Aptos"/>
              </a:rPr>
              <a:t>Demo mode uses simulated APIs and clearly labelled sample data; official links are surfaced for verification.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7CD"/>
                </a:solidFill>
                <a:latin typeface="Aptos"/>
              </a:rPr>
              <a:t>AMTEASE AI  •  DIGITAL ASSISTANTS 2030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492240"/>
            <a:ext cx="822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9B7CD"/>
                </a:solidFill>
                <a:latin typeface="Aptos"/>
              </a:rPr>
              <a:t>05  /  06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D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457200"/>
            <a:ext cx="3840480" cy="38404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274320"/>
            <a:ext cx="2377440" cy="2377440"/>
          </a:xfrm>
          <a:prstGeom prst="ellipse">
            <a:avLst/>
          </a:prstGeom>
          <a:solidFill>
            <a:srgbClr val="42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0" y="868680"/>
            <a:ext cx="1188720" cy="1188720"/>
          </a:xfrm>
          <a:prstGeom prst="ellipse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868680"/>
            <a:ext cx="1417320" cy="310896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891540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2D6D0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70408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5F7FB"/>
                </a:solidFill>
                <a:latin typeface="Aptos"/>
              </a:rPr>
              <a:t>Let’s make public
services easier to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49377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2D6D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Aptos"/>
              </a:rPr>
              <a:t>Hossam Elshahaby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48656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7CD"/>
                </a:solidFill>
                <a:latin typeface="Aptos"/>
              </a:rPr>
              <a:t>AmtEase AI  •  Digital Assistants: Evolution to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749039"/>
            <a:ext cx="3566160" cy="914400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99248" y="3986784"/>
            <a:ext cx="420624" cy="420624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991356"/>
            <a:ext cx="42062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B1220"/>
                </a:solidFill>
                <a:latin typeface="Aptos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931920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Aptos"/>
              </a:rPr>
              <a:t>What should the ideal
public-service assistant do next?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7CD"/>
                </a:solidFill>
                <a:latin typeface="Aptos"/>
              </a:rPr>
              <a:t>AMTEASE AI  •  DIGITAL ASSISTANTS 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822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9B7CD"/>
                </a:solidFill>
                <a:latin typeface="Aptos"/>
              </a:rPr>
              <a:t>06  /  06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